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8288000" cy="10287000"/>
  <p:notesSz cx="18288000" cy="10287000"/>
  <p:embeddedFontLst>
    <p:embeddedFont>
      <p:font typeface="Trebuchet MS" panose="020B0603020202020204"/>
      <p:regular r:id="rId25"/>
      <p:bold r:id="rId26"/>
      <p:italic r:id="rId27"/>
      <p:boldItalic r:id="rId28"/>
    </p:embeddedFont>
    <p:embeddedFont>
      <p:font typeface="Tahoma" panose="020B0604030504040204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000000"/>
          </p15:clr>
        </p15:guide>
        <p15:guide id="2" pos="216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" name="Google Shape;58;p1:notes"/>
          <p:cNvSpPr/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2:notes"/>
          <p:cNvSpPr/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3:notes"/>
          <p:cNvSpPr/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d0ec2b37c_1_5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d0ec2b37c_1_5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d0ec2b37c_1_11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d0ec2b37c_1_11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d0ec2b37c_1_18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d0ec2b37c_1_18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d0ec2b37c_1_25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d0ec2b37c_1_25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d0ec2b37c_1_31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d0ec2b37c_1_31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d0ec2b37c_1_38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d0ec2b37c_1_38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d0ec2b37c_1_45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d0ec2b37c_1_45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d0ec2b37c_1_52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d0ec2b37c_1_52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d0ec2b37c_1_58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d0ec2b37c_1_58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d0ec2b37c_1_67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d0ec2b37c_1_67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d0ec2b37c_1_74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d0ec2b37c_1_74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416eb1071_0_0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416eb1071_0_0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d0ec2b37c_1_81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d0ec2b37c_1_81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d0ec2b37c_1_87:notes"/>
          <p:cNvSpPr/>
          <p:nvPr>
            <p:ph type="sldImg" idx="2"/>
          </p:nvPr>
        </p:nvSpPr>
        <p:spPr>
          <a:xfrm>
            <a:off x="3048600" y="771525"/>
            <a:ext cx="12192600" cy="3857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d0ec2b37c_1_87:notes"/>
          <p:cNvSpPr txBox="1"/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9:notes"/>
          <p:cNvSpPr/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matchingName="Title Slide">
  <p:cSld name="OBJECT">
    <p:bg>
      <p:bgPr>
        <a:solidFill>
          <a:schemeClr val="lt1"/>
        </a:solidFill>
        <a:effectLst/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195" y="106650"/>
            <a:ext cx="1329308" cy="97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1"/>
          <p:cNvSpPr/>
          <p:nvPr/>
        </p:nvSpPr>
        <p:spPr>
          <a:xfrm>
            <a:off x="0" y="0"/>
            <a:ext cx="18289270" cy="976630"/>
          </a:xfrm>
          <a:custGeom>
            <a:avLst/>
            <a:gdLst/>
            <a:ahLst/>
            <a:cxnLst/>
            <a:rect l="l" t="t" r="r" b="b"/>
            <a:pathLst>
              <a:path w="18289270" h="976630" extrusionOk="0">
                <a:moveTo>
                  <a:pt x="18288921" y="976629"/>
                </a:moveTo>
                <a:lnTo>
                  <a:pt x="0" y="976629"/>
                </a:lnTo>
                <a:lnTo>
                  <a:pt x="0" y="0"/>
                </a:lnTo>
                <a:lnTo>
                  <a:pt x="18288921" y="0"/>
                </a:lnTo>
                <a:lnTo>
                  <a:pt x="18288921" y="9766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" name="Google Shape;21;p11"/>
          <p:cNvSpPr/>
          <p:nvPr/>
        </p:nvSpPr>
        <p:spPr>
          <a:xfrm>
            <a:off x="2406589" y="2382510"/>
            <a:ext cx="746760" cy="92710"/>
          </a:xfrm>
          <a:custGeom>
            <a:avLst/>
            <a:gdLst/>
            <a:ahLst/>
            <a:cxnLst/>
            <a:rect l="l" t="t" r="r" b="b"/>
            <a:pathLst>
              <a:path w="746760" h="92710" extrusionOk="0">
                <a:moveTo>
                  <a:pt x="746750" y="92710"/>
                </a:moveTo>
                <a:lnTo>
                  <a:pt x="0" y="92710"/>
                </a:lnTo>
                <a:lnTo>
                  <a:pt x="0" y="0"/>
                </a:lnTo>
                <a:lnTo>
                  <a:pt x="746750" y="0"/>
                </a:lnTo>
                <a:lnTo>
                  <a:pt x="746750" y="92710"/>
                </a:lnTo>
                <a:close/>
              </a:path>
            </a:pathLst>
          </a:custGeom>
          <a:solidFill>
            <a:srgbClr val="EB54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" name="Google Shape;22;p11"/>
          <p:cNvSpPr/>
          <p:nvPr/>
        </p:nvSpPr>
        <p:spPr>
          <a:xfrm>
            <a:off x="1660781" y="2382510"/>
            <a:ext cx="753745" cy="92710"/>
          </a:xfrm>
          <a:custGeom>
            <a:avLst/>
            <a:gdLst/>
            <a:ahLst/>
            <a:cxnLst/>
            <a:rect l="l" t="t" r="r" b="b"/>
            <a:pathLst>
              <a:path w="753744" h="92710" extrusionOk="0">
                <a:moveTo>
                  <a:pt x="753268" y="92710"/>
                </a:moveTo>
                <a:lnTo>
                  <a:pt x="0" y="92710"/>
                </a:lnTo>
                <a:lnTo>
                  <a:pt x="0" y="0"/>
                </a:lnTo>
                <a:lnTo>
                  <a:pt x="753268" y="0"/>
                </a:lnTo>
                <a:lnTo>
                  <a:pt x="753268" y="92710"/>
                </a:lnTo>
                <a:close/>
              </a:path>
            </a:pathLst>
          </a:custGeom>
          <a:solidFill>
            <a:srgbClr val="1A998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3" name="Google Shape;23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195" y="106650"/>
            <a:ext cx="1329308" cy="9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3933273" y="333548"/>
            <a:ext cx="4246244" cy="308507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1"/>
          <p:cNvSpPr txBox="1"/>
          <p:nvPr>
            <p:ph type="ctrTitle"/>
          </p:nvPr>
        </p:nvSpPr>
        <p:spPr>
          <a:xfrm>
            <a:off x="1592250" y="2700650"/>
            <a:ext cx="9152255" cy="2581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0">
                <a:solidFill>
                  <a:srgbClr val="1A1A1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type="subTitle" idx="1"/>
          </p:nvPr>
        </p:nvSpPr>
        <p:spPr>
          <a:xfrm>
            <a:off x="4598179" y="8189815"/>
            <a:ext cx="8928735" cy="107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00" b="0" i="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type="ftr" idx="11"/>
          </p:nvPr>
        </p:nvSpPr>
        <p:spPr>
          <a:xfrm>
            <a:off x="7818263" y="9999066"/>
            <a:ext cx="242887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585858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1588950" y="1177885"/>
            <a:ext cx="9958070" cy="726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0">
                <a:solidFill>
                  <a:srgbClr val="1A1A1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type="body" idx="1"/>
          </p:nvPr>
        </p:nvSpPr>
        <p:spPr>
          <a:xfrm>
            <a:off x="1089652" y="2949920"/>
            <a:ext cx="13482955" cy="6562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500" b="0" i="0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type="ftr" idx="11"/>
          </p:nvPr>
        </p:nvSpPr>
        <p:spPr>
          <a:xfrm>
            <a:off x="7818263" y="9999066"/>
            <a:ext cx="242887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585858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bg>
      <p:bgPr>
        <a:solidFill>
          <a:schemeClr val="lt1"/>
        </a:solidFill>
        <a:effectLst/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A998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8" name="Google Shape;38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276073" y="97122"/>
            <a:ext cx="2858454" cy="310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195" y="106650"/>
            <a:ext cx="1329308" cy="975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3"/>
          <p:cNvSpPr/>
          <p:nvPr/>
        </p:nvSpPr>
        <p:spPr>
          <a:xfrm>
            <a:off x="1660778" y="2382517"/>
            <a:ext cx="1492885" cy="92710"/>
          </a:xfrm>
          <a:custGeom>
            <a:avLst/>
            <a:gdLst/>
            <a:ahLst/>
            <a:cxnLst/>
            <a:rect l="l" t="t" r="r" b="b"/>
            <a:pathLst>
              <a:path w="1492885" h="92710" extrusionOk="0">
                <a:moveTo>
                  <a:pt x="1492413" y="92710"/>
                </a:moveTo>
                <a:lnTo>
                  <a:pt x="0" y="92710"/>
                </a:lnTo>
                <a:lnTo>
                  <a:pt x="0" y="0"/>
                </a:lnTo>
                <a:lnTo>
                  <a:pt x="1492413" y="0"/>
                </a:lnTo>
                <a:lnTo>
                  <a:pt x="1492413" y="927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1" name="Google Shape;41;p13"/>
          <p:cNvSpPr txBox="1"/>
          <p:nvPr>
            <p:ph type="title"/>
          </p:nvPr>
        </p:nvSpPr>
        <p:spPr>
          <a:xfrm>
            <a:off x="1588950" y="1177885"/>
            <a:ext cx="9958070" cy="726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0">
                <a:solidFill>
                  <a:srgbClr val="1A1A1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type="ftr" idx="11"/>
          </p:nvPr>
        </p:nvSpPr>
        <p:spPr>
          <a:xfrm>
            <a:off x="7818263" y="9999066"/>
            <a:ext cx="242887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585858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1588950" y="1177885"/>
            <a:ext cx="9958070" cy="726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0">
                <a:solidFill>
                  <a:srgbClr val="1A1A1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type="body" idx="1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type="body" idx="2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type="ftr" idx="11"/>
          </p:nvPr>
        </p:nvSpPr>
        <p:spPr>
          <a:xfrm>
            <a:off x="7818263" y="9999066"/>
            <a:ext cx="242887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585858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ftr" idx="11"/>
          </p:nvPr>
        </p:nvSpPr>
        <p:spPr>
          <a:xfrm>
            <a:off x="7818263" y="9999066"/>
            <a:ext cx="242887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585858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5"/>
          <p:cNvSpPr txBox="1"/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4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0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6195" y="106650"/>
            <a:ext cx="1329308" cy="9755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0"/>
          <p:cNvSpPr/>
          <p:nvPr/>
        </p:nvSpPr>
        <p:spPr>
          <a:xfrm>
            <a:off x="0" y="0"/>
            <a:ext cx="18289270" cy="976630"/>
          </a:xfrm>
          <a:custGeom>
            <a:avLst/>
            <a:gdLst/>
            <a:ahLst/>
            <a:cxnLst/>
            <a:rect l="l" t="t" r="r" b="b"/>
            <a:pathLst>
              <a:path w="18289270" h="976630" extrusionOk="0">
                <a:moveTo>
                  <a:pt x="18288921" y="976629"/>
                </a:moveTo>
                <a:lnTo>
                  <a:pt x="0" y="976629"/>
                </a:lnTo>
                <a:lnTo>
                  <a:pt x="0" y="0"/>
                </a:lnTo>
                <a:lnTo>
                  <a:pt x="18288921" y="0"/>
                </a:lnTo>
                <a:lnTo>
                  <a:pt x="18288921" y="976629"/>
                </a:lnTo>
                <a:close/>
              </a:path>
            </a:pathLst>
          </a:custGeom>
          <a:solidFill>
            <a:srgbClr val="E8ECE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8" name="Google Shape;8;p10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76195" y="106650"/>
            <a:ext cx="1329308" cy="9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0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15276073" y="97122"/>
            <a:ext cx="2858454" cy="3108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0"/>
          <p:cNvSpPr/>
          <p:nvPr/>
        </p:nvSpPr>
        <p:spPr>
          <a:xfrm>
            <a:off x="2406589" y="2382510"/>
            <a:ext cx="746760" cy="92710"/>
          </a:xfrm>
          <a:custGeom>
            <a:avLst/>
            <a:gdLst/>
            <a:ahLst/>
            <a:cxnLst/>
            <a:rect l="l" t="t" r="r" b="b"/>
            <a:pathLst>
              <a:path w="746760" h="92710" extrusionOk="0">
                <a:moveTo>
                  <a:pt x="746750" y="92710"/>
                </a:moveTo>
                <a:lnTo>
                  <a:pt x="0" y="92710"/>
                </a:lnTo>
                <a:lnTo>
                  <a:pt x="0" y="0"/>
                </a:lnTo>
                <a:lnTo>
                  <a:pt x="746750" y="0"/>
                </a:lnTo>
                <a:lnTo>
                  <a:pt x="746750" y="92710"/>
                </a:lnTo>
                <a:close/>
              </a:path>
            </a:pathLst>
          </a:custGeom>
          <a:solidFill>
            <a:srgbClr val="EB54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" name="Google Shape;11;p10"/>
          <p:cNvSpPr/>
          <p:nvPr/>
        </p:nvSpPr>
        <p:spPr>
          <a:xfrm>
            <a:off x="1660781" y="2382510"/>
            <a:ext cx="753745" cy="92710"/>
          </a:xfrm>
          <a:custGeom>
            <a:avLst/>
            <a:gdLst/>
            <a:ahLst/>
            <a:cxnLst/>
            <a:rect l="l" t="t" r="r" b="b"/>
            <a:pathLst>
              <a:path w="753744" h="92710" extrusionOk="0">
                <a:moveTo>
                  <a:pt x="753268" y="92710"/>
                </a:moveTo>
                <a:lnTo>
                  <a:pt x="0" y="92710"/>
                </a:lnTo>
                <a:lnTo>
                  <a:pt x="0" y="0"/>
                </a:lnTo>
                <a:lnTo>
                  <a:pt x="753268" y="0"/>
                </a:lnTo>
                <a:lnTo>
                  <a:pt x="753268" y="92710"/>
                </a:lnTo>
                <a:close/>
              </a:path>
            </a:pathLst>
          </a:custGeom>
          <a:solidFill>
            <a:srgbClr val="1A998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Google Shape;12;p10"/>
          <p:cNvSpPr txBox="1"/>
          <p:nvPr>
            <p:ph type="title"/>
          </p:nvPr>
        </p:nvSpPr>
        <p:spPr>
          <a:xfrm>
            <a:off x="1588950" y="1177885"/>
            <a:ext cx="9958070" cy="726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00" b="1" i="0" u="none" strike="noStrike" cap="none">
                <a:solidFill>
                  <a:srgbClr val="1A1A1A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type="body" idx="1"/>
          </p:nvPr>
        </p:nvSpPr>
        <p:spPr>
          <a:xfrm>
            <a:off x="1089652" y="2949920"/>
            <a:ext cx="13482955" cy="6562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00" b="0" i="0" u="none" strike="noStrike" cap="none">
                <a:solidFill>
                  <a:schemeClr val="dk1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type="ftr" idx="11"/>
          </p:nvPr>
        </p:nvSpPr>
        <p:spPr>
          <a:xfrm>
            <a:off x="7818263" y="9999066"/>
            <a:ext cx="242887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>
                <a:solidFill>
                  <a:srgbClr val="585858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5" name="Google Shape;15;p10"/>
          <p:cNvSpPr txBox="1"/>
          <p:nvPr>
            <p:ph type="dt" idx="10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/>
        </p:txBody>
      </p:sp>
      <p:sp>
        <p:nvSpPr>
          <p:cNvPr id="16" name="Google Shape;16;p10"/>
          <p:cNvSpPr txBox="1"/>
          <p:nvPr>
            <p:ph type="sldNum" idx="12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17" name="Google Shape;17;p10"/>
          <p:cNvSpPr/>
          <p:nvPr/>
        </p:nvSpPr>
        <p:spPr>
          <a:xfrm>
            <a:off x="16363300" y="239725"/>
            <a:ext cx="1924800" cy="531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reflection stA="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19258375" y="1789463"/>
            <a:ext cx="3618900" cy="44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/>
          </a:p>
        </p:txBody>
      </p:sp>
      <p:sp>
        <p:nvSpPr>
          <p:cNvPr id="61" name="Google Shape;61;p1"/>
          <p:cNvSpPr txBox="1"/>
          <p:nvPr>
            <p:ph type="ftr" idx="11"/>
          </p:nvPr>
        </p:nvSpPr>
        <p:spPr>
          <a:xfrm>
            <a:off x="7818263" y="9999066"/>
            <a:ext cx="242887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Dr. Deepak Kumar Rout</a:t>
            </a:r>
            <a:endParaRPr lang="en-US"/>
          </a:p>
        </p:txBody>
      </p:sp>
      <p:pic>
        <p:nvPicPr>
          <p:cNvPr id="62" name="Google Shape;62;p1" title="Screenshot 2026-04-02 021250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18900" y="220395"/>
            <a:ext cx="14737893" cy="977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 title="Screenshot 2026-04-02 021613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6256800" y="254050"/>
            <a:ext cx="2031200" cy="98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Pictur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050" y="9269095"/>
            <a:ext cx="3258820" cy="593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1521750" y="1072200"/>
            <a:ext cx="3814500" cy="1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latin typeface="Times"/>
                <a:ea typeface="Times"/>
                <a:cs typeface="Times"/>
                <a:sym typeface="Times"/>
              </a:rPr>
              <a:t>P</a:t>
            </a:r>
            <a:r>
              <a:rPr lang="en-US" sz="7200">
                <a:latin typeface="Times"/>
                <a:ea typeface="Times"/>
                <a:cs typeface="Times"/>
                <a:sym typeface="Times"/>
              </a:rPr>
              <a:t>roblem</a:t>
            </a:r>
            <a:endParaRPr sz="7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1083125" y="3178850"/>
            <a:ext cx="16468200" cy="58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100" rIns="0" bIns="0" anchor="t" anchorCtr="0">
            <a:spAutoFit/>
          </a:bodyPr>
          <a:lstStyle/>
          <a:p>
            <a:pPr marL="457200" lvl="0" indent="-533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Traditional manual attendance tracking methods require significant manual effort and are prone to errors.</a:t>
            </a:r>
            <a:endParaRPr sz="4800">
              <a:solidFill>
                <a:schemeClr val="dk1"/>
              </a:solidFill>
            </a:endParaRPr>
          </a:p>
          <a:p>
            <a:pPr marL="457200" lvl="0" indent="-533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Char char="●"/>
            </a:pPr>
            <a:r>
              <a:rPr lang="en-US" sz="4800">
                <a:solidFill>
                  <a:schemeClr val="dk1"/>
                </a:solidFill>
              </a:rPr>
              <a:t>There is a lack of transparency for students regarding their real-time attendance status.</a:t>
            </a:r>
            <a:endParaRPr sz="48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4800">
                <a:solidFill>
                  <a:schemeClr val="dk1"/>
                </a:solidFill>
              </a:rPr>
              <a:t>Educational institutions need a digital, automated method to track attendance and enforce institutional rules efficiently</a:t>
            </a:r>
            <a:endParaRPr sz="1700" b="1">
              <a:latin typeface="Times"/>
              <a:ea typeface="Times"/>
              <a:cs typeface="Times"/>
              <a:sym typeface="Times"/>
            </a:endParaRPr>
          </a:p>
          <a:p>
            <a:pPr marL="2313305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500" b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1588950" y="1177885"/>
            <a:ext cx="9958200" cy="9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/>
              <a:t>Solution</a:t>
            </a:r>
            <a:endParaRPr sz="6100"/>
          </a:p>
        </p:txBody>
      </p:sp>
      <p:sp>
        <p:nvSpPr>
          <p:cNvPr id="77" name="Google Shape;77;p3"/>
          <p:cNvSpPr txBox="1"/>
          <p:nvPr/>
        </p:nvSpPr>
        <p:spPr>
          <a:xfrm>
            <a:off x="500225" y="2714775"/>
            <a:ext cx="17395200" cy="71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935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100" b="1">
              <a:solidFill>
                <a:schemeClr val="dk1"/>
              </a:solidFill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 b="1">
                <a:solidFill>
                  <a:schemeClr val="dk1"/>
                </a:solidFill>
              </a:rPr>
              <a:t>System Overview:</a:t>
            </a:r>
            <a:r>
              <a:rPr lang="en-US" sz="4000">
                <a:solidFill>
                  <a:schemeClr val="dk1"/>
                </a:solidFill>
              </a:rPr>
              <a:t> The Student Attendance Management System (SAMS) is a web-based platform designed to digitize attendance tracking.</a:t>
            </a:r>
            <a:endParaRPr sz="4000">
              <a:solidFill>
                <a:schemeClr val="dk1"/>
              </a:solidFill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 b="1">
                <a:solidFill>
                  <a:schemeClr val="dk1"/>
                </a:solidFill>
              </a:rPr>
              <a:t>Centralization:</a:t>
            </a:r>
            <a:r>
              <a:rPr lang="en-US" sz="4000">
                <a:solidFill>
                  <a:schemeClr val="dk1"/>
                </a:solidFill>
              </a:rPr>
              <a:t> It provides a centralized hub for attendance management, detailed reporting, and automated notification capabilities.</a:t>
            </a:r>
            <a:endParaRPr sz="4000">
              <a:solidFill>
                <a:schemeClr val="dk1"/>
              </a:solidFill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 b="1">
                <a:solidFill>
                  <a:schemeClr val="dk1"/>
                </a:solidFill>
              </a:rPr>
              <a:t>Modernization:</a:t>
            </a:r>
            <a:r>
              <a:rPr lang="en-US" sz="4000">
                <a:solidFill>
                  <a:schemeClr val="dk1"/>
                </a:solidFill>
              </a:rPr>
              <a:t> SAMS entirely replaces traditional manual attendance registers with a secure, easily accessible online system.</a:t>
            </a:r>
            <a:endParaRPr sz="4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Student → View Attendance</a:t>
            </a:r>
            <a:endParaRPr sz="4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Teacher → Mark Attendance</a:t>
            </a:r>
            <a:endParaRPr sz="4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Admin → Approve Requests</a:t>
            </a:r>
            <a:endParaRPr sz="3200"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d0ec2b37c_1_5"/>
          <p:cNvSpPr txBox="1"/>
          <p:nvPr>
            <p:ph type="title"/>
          </p:nvPr>
        </p:nvSpPr>
        <p:spPr>
          <a:xfrm>
            <a:off x="1588950" y="1177885"/>
            <a:ext cx="9958200" cy="7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 lang="en-US"/>
          </a:p>
        </p:txBody>
      </p:sp>
      <p:sp>
        <p:nvSpPr>
          <p:cNvPr id="83" name="Google Shape;83;g3dd0ec2b37c_1_5"/>
          <p:cNvSpPr txBox="1"/>
          <p:nvPr>
            <p:ph type="body" idx="1"/>
          </p:nvPr>
        </p:nvSpPr>
        <p:spPr>
          <a:xfrm>
            <a:off x="401750" y="2480900"/>
            <a:ext cx="17274900" cy="7053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350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Reduce manual effort and eliminate human errors in recording attendance.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Allow teachers to seamlessly mark daily attendance for their assigned classes online.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Provide students with transparent, real-time access to their overall and subject-wise attendance percentages.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Enable administrators to efficiently manage users, subjects, and classes from a single dashboard.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Generate comprehensive reports and dispatch low-attendance notifications via email or SMS.</a:t>
            </a:r>
            <a:endParaRPr sz="6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d0ec2b37c_1_11"/>
          <p:cNvSpPr txBox="1"/>
          <p:nvPr>
            <p:ph type="title"/>
          </p:nvPr>
        </p:nvSpPr>
        <p:spPr>
          <a:xfrm>
            <a:off x="1588950" y="1177885"/>
            <a:ext cx="9958200" cy="7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System Architecture Design</a:t>
            </a:r>
            <a:endParaRPr lang="en-US"/>
          </a:p>
        </p:txBody>
      </p:sp>
      <p:sp>
        <p:nvSpPr>
          <p:cNvPr id="89" name="Google Shape;89;g3dd0ec2b37c_1_11"/>
          <p:cNvSpPr txBox="1"/>
          <p:nvPr>
            <p:ph type="body" idx="1"/>
          </p:nvPr>
        </p:nvSpPr>
        <p:spPr>
          <a:xfrm>
            <a:off x="229300" y="2762325"/>
            <a:ext cx="17259600" cy="820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0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system is built on a modular Layered Architecture:</a:t>
            </a:r>
            <a:endParaRPr sz="3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Presentation Layer (Web UI):</a:t>
            </a:r>
            <a:r>
              <a:rPr lang="en-US" sz="3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Delivers role-based dashboards to interact with the system via web browsers.</a:t>
            </a:r>
            <a:endParaRPr sz="3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Application Layer (Controllers/APIs):</a:t>
            </a:r>
            <a:r>
              <a:rPr lang="en-US" sz="3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Acts as the communication bridge, receiving requests and routing them to the correct service.</a:t>
            </a:r>
            <a:endParaRPr sz="3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Business Layer (Services):</a:t>
            </a:r>
            <a:r>
              <a:rPr lang="en-US" sz="3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Houses core logic, including authentication, attendance processing, and Role-Based Access Control (RBAC) rules.</a:t>
            </a:r>
            <a:endParaRPr sz="3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Layer:</a:t>
            </a:r>
            <a:r>
              <a:rPr lang="en-US" sz="3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Manages all persistent data retrieval and storage within the Attendance Database.</a:t>
            </a:r>
            <a:endParaRPr sz="3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Integration Layer:</a:t>
            </a:r>
            <a:r>
              <a:rPr lang="en-US" sz="36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Securely connects to third-party Email and SMS gateways for external communication.</a:t>
            </a:r>
            <a:endParaRPr sz="36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d0ec2b37c_1_18"/>
          <p:cNvSpPr txBox="1"/>
          <p:nvPr>
            <p:ph type="title"/>
          </p:nvPr>
        </p:nvSpPr>
        <p:spPr>
          <a:xfrm>
            <a:off x="1588950" y="1177885"/>
            <a:ext cx="9958200" cy="7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S</a:t>
            </a:r>
            <a:r>
              <a:rPr lang="en-US"/>
              <a:t>ystem Architecture Design</a:t>
            </a:r>
            <a:endParaRPr lang="en-US"/>
          </a:p>
        </p:txBody>
      </p:sp>
      <p:sp>
        <p:nvSpPr>
          <p:cNvPr id="95" name="Google Shape;95;g3dd0ec2b37c_1_18"/>
          <p:cNvSpPr txBox="1"/>
          <p:nvPr>
            <p:ph type="body" idx="1"/>
          </p:nvPr>
        </p:nvSpPr>
        <p:spPr>
          <a:xfrm>
            <a:off x="19099726" y="3137525"/>
            <a:ext cx="4642800" cy="1693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6" name="Google Shape;96;g3dd0ec2b37c_1_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234325" y="2698225"/>
            <a:ext cx="8593099" cy="62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dd0ec2b37c_1_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77479" y="2698227"/>
            <a:ext cx="9056849" cy="648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d0ec2b37c_1_25"/>
          <p:cNvSpPr txBox="1"/>
          <p:nvPr>
            <p:ph type="title"/>
          </p:nvPr>
        </p:nvSpPr>
        <p:spPr>
          <a:xfrm>
            <a:off x="1588950" y="1177885"/>
            <a:ext cx="9958200" cy="7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Student End Display Module</a:t>
            </a:r>
            <a:endParaRPr lang="en-US"/>
          </a:p>
        </p:txBody>
      </p:sp>
      <p:sp>
        <p:nvSpPr>
          <p:cNvPr id="103" name="Google Shape;103;g3dd0ec2b37c_1_25"/>
          <p:cNvSpPr txBox="1"/>
          <p:nvPr>
            <p:ph type="body" idx="1"/>
          </p:nvPr>
        </p:nvSpPr>
        <p:spPr>
          <a:xfrm>
            <a:off x="854650" y="2647325"/>
            <a:ext cx="16509300" cy="7305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00" b="1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Access &amp; Transparency: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Allows enrolled students to log in and securely access their own data.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Dashboard View: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Features attendance summary cards that display overall percentages and subject-wise breakdowns for a quick overview.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Filtering Options: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Includes dropdown menus to filter attendance records based on specific subjects or semesters.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Notifications Panel: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Displays system alerts, important updates, and low attendance warnings directly to the student.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8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d0ec2b37c_1_31"/>
          <p:cNvSpPr txBox="1"/>
          <p:nvPr>
            <p:ph type="title"/>
          </p:nvPr>
        </p:nvSpPr>
        <p:spPr>
          <a:xfrm>
            <a:off x="1588950" y="1177875"/>
            <a:ext cx="11679000" cy="1416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Student End Display Module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9" name="Google Shape;109;g3dd0ec2b37c_1_31"/>
          <p:cNvSpPr txBox="1"/>
          <p:nvPr>
            <p:ph type="body" idx="1"/>
          </p:nvPr>
        </p:nvSpPr>
        <p:spPr>
          <a:xfrm>
            <a:off x="-6226949" y="2762325"/>
            <a:ext cx="5111700" cy="846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0" name="Google Shape;110;g3dd0ec2b37c_1_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77475" y="2762325"/>
            <a:ext cx="7674900" cy="660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dd0ec2b37c_1_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9345100" y="2031075"/>
            <a:ext cx="7132925" cy="783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d0ec2b37c_1_38"/>
          <p:cNvSpPr txBox="1"/>
          <p:nvPr>
            <p:ph type="title"/>
          </p:nvPr>
        </p:nvSpPr>
        <p:spPr>
          <a:xfrm>
            <a:off x="1588950" y="1177885"/>
            <a:ext cx="9958200" cy="7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Teacher End Entry Module</a:t>
            </a:r>
            <a:endParaRPr lang="en-US"/>
          </a:p>
        </p:txBody>
      </p:sp>
      <p:sp>
        <p:nvSpPr>
          <p:cNvPr id="117" name="Google Shape;117;g3dd0ec2b37c_1_38"/>
          <p:cNvSpPr txBox="1"/>
          <p:nvPr>
            <p:ph type="body" idx="1"/>
          </p:nvPr>
        </p:nvSpPr>
        <p:spPr>
          <a:xfrm>
            <a:off x="479425" y="2522250"/>
            <a:ext cx="17103300" cy="74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501650" algn="l" rtl="0">
              <a:spcBef>
                <a:spcPts val="0"/>
              </a:spcBef>
              <a:spcAft>
                <a:spcPts val="0"/>
              </a:spcAft>
              <a:buSzPts val="4300"/>
              <a:buFont typeface="Arial" panose="020B0604020202020204"/>
              <a:buChar char="●"/>
            </a:pPr>
            <a:r>
              <a:rPr lang="en-US" sz="43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Efficient Entry:</a:t>
            </a:r>
            <a:r>
              <a:rPr lang="en-US" sz="43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Instructors are provided a streamlined interface to manage class attendance.</a:t>
            </a:r>
            <a:endParaRPr sz="4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501650" algn="l" rtl="0">
              <a:spcBef>
                <a:spcPts val="0"/>
              </a:spcBef>
              <a:spcAft>
                <a:spcPts val="0"/>
              </a:spcAft>
              <a:buSzPts val="4300"/>
              <a:buFont typeface="Arial" panose="020B0604020202020204"/>
              <a:buChar char="●"/>
            </a:pPr>
            <a:r>
              <a:rPr lang="en-US" sz="43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Marking Interface:</a:t>
            </a:r>
            <a:r>
              <a:rPr lang="en-US" sz="43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Teachers utilize dropdown menus to select the specific class, subject, and date.</a:t>
            </a:r>
            <a:endParaRPr sz="4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501650" algn="l" rtl="0">
              <a:spcBef>
                <a:spcPts val="0"/>
              </a:spcBef>
              <a:spcAft>
                <a:spcPts val="0"/>
              </a:spcAft>
              <a:buSzPts val="4300"/>
              <a:buFont typeface="Arial" panose="020B0604020202020204"/>
              <a:buChar char="●"/>
            </a:pPr>
            <a:r>
              <a:rPr lang="en-US" sz="43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Toggle System:</a:t>
            </a:r>
            <a:r>
              <a:rPr lang="en-US" sz="43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The module displays a list of enrolled students with simple Present/Absent toggle switches for rapid marking.</a:t>
            </a:r>
            <a:endParaRPr sz="4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501650" algn="l" rtl="0">
              <a:spcBef>
                <a:spcPts val="0"/>
              </a:spcBef>
              <a:spcAft>
                <a:spcPts val="0"/>
              </a:spcAft>
              <a:buSzPts val="4300"/>
              <a:buFont typeface="Arial" panose="020B0604020202020204"/>
              <a:buChar char="●"/>
            </a:pPr>
            <a:r>
              <a:rPr lang="en-US" sz="43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Correction Workflows:</a:t>
            </a:r>
            <a:r>
              <a:rPr lang="en-US" sz="43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Teachers can officially request edits or corrections to past attendance records if an error was made.</a:t>
            </a:r>
            <a:endParaRPr sz="4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501650" algn="l" rtl="0">
              <a:spcBef>
                <a:spcPts val="0"/>
              </a:spcBef>
              <a:spcAft>
                <a:spcPts val="0"/>
              </a:spcAft>
              <a:buSzPts val="4300"/>
              <a:buFont typeface="Arial" panose="020B0604020202020204"/>
              <a:buChar char="●"/>
            </a:pPr>
            <a:r>
              <a:rPr lang="en-US" sz="43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Report Generation:</a:t>
            </a:r>
            <a:r>
              <a:rPr lang="en-US" sz="43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Instructors can easily generate attendance reports for their assigned classes.</a:t>
            </a:r>
            <a:endParaRPr sz="4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d0ec2b37c_1_45"/>
          <p:cNvSpPr txBox="1"/>
          <p:nvPr>
            <p:ph type="title"/>
          </p:nvPr>
        </p:nvSpPr>
        <p:spPr>
          <a:xfrm>
            <a:off x="1588950" y="1177885"/>
            <a:ext cx="9958200" cy="1416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T</a:t>
            </a:r>
            <a:r>
              <a:rPr lang="en-US"/>
              <a:t>eacher End Entry Module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g3dd0ec2b37c_1_45"/>
          <p:cNvSpPr txBox="1"/>
          <p:nvPr>
            <p:ph type="body" idx="1"/>
          </p:nvPr>
        </p:nvSpPr>
        <p:spPr>
          <a:xfrm>
            <a:off x="-5851725" y="3231400"/>
            <a:ext cx="5142900" cy="846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4" name="Google Shape;124;g3dd0ec2b37c_1_4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0157975" y="1307966"/>
            <a:ext cx="7299675" cy="85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dd0ec2b37c_1_4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215475" y="2593867"/>
            <a:ext cx="7767752" cy="713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d0ec2b37c_1_52"/>
          <p:cNvSpPr txBox="1"/>
          <p:nvPr>
            <p:ph type="title"/>
          </p:nvPr>
        </p:nvSpPr>
        <p:spPr>
          <a:xfrm>
            <a:off x="1588950" y="1177885"/>
            <a:ext cx="9958200" cy="7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Admin End Management Module</a:t>
            </a:r>
            <a:endParaRPr lang="en-US"/>
          </a:p>
        </p:txBody>
      </p:sp>
      <p:sp>
        <p:nvSpPr>
          <p:cNvPr id="131" name="Google Shape;131;g3dd0ec2b37c_1_52"/>
          <p:cNvSpPr txBox="1"/>
          <p:nvPr>
            <p:ph type="body" idx="1"/>
          </p:nvPr>
        </p:nvSpPr>
        <p:spPr>
          <a:xfrm>
            <a:off x="572574" y="3058775"/>
            <a:ext cx="16853700" cy="6387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Arial" panose="020B0604020202020204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System Oversight: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Designed specifically for system administrators and managers to govern the platform.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Arial" panose="020B0604020202020204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Management: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Administrators can create, update, and manage user accounts, classes, and subjects.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Arial" panose="020B0604020202020204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Approval Authority: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Admins have the ability to review, approve, or reject attendance edit requests submitted by teachers.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Arial" panose="020B0604020202020204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Reporting &amp; Auditing: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Admins can generate broad academic reports and view critical system audit logs (such as login attempts and data changes).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d0ec2b37c_1_58"/>
          <p:cNvSpPr txBox="1"/>
          <p:nvPr>
            <p:ph type="title"/>
          </p:nvPr>
        </p:nvSpPr>
        <p:spPr>
          <a:xfrm>
            <a:off x="1588950" y="1177885"/>
            <a:ext cx="9958200" cy="7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Admin End Management Module</a:t>
            </a:r>
            <a:endParaRPr lang="en-US"/>
          </a:p>
        </p:txBody>
      </p:sp>
      <p:sp>
        <p:nvSpPr>
          <p:cNvPr id="137" name="Google Shape;137;g3dd0ec2b37c_1_58"/>
          <p:cNvSpPr txBox="1"/>
          <p:nvPr>
            <p:ph type="body" idx="1"/>
          </p:nvPr>
        </p:nvSpPr>
        <p:spPr>
          <a:xfrm>
            <a:off x="-5822774" y="2841075"/>
            <a:ext cx="5070000" cy="846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8" name="Google Shape;138;g3dd0ec2b37c_1_5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348975" y="1177871"/>
            <a:ext cx="5612850" cy="84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dd0ec2b37c_1_5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278675" y="1885869"/>
            <a:ext cx="6038850" cy="783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d0ec2b37c_1_67"/>
          <p:cNvSpPr txBox="1"/>
          <p:nvPr>
            <p:ph type="title"/>
          </p:nvPr>
        </p:nvSpPr>
        <p:spPr>
          <a:xfrm>
            <a:off x="1588950" y="1177885"/>
            <a:ext cx="99582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Workflow of System</a:t>
            </a:r>
            <a:endParaRPr sz="6000"/>
          </a:p>
        </p:txBody>
      </p:sp>
      <p:sp>
        <p:nvSpPr>
          <p:cNvPr id="145" name="Google Shape;145;g3dd0ec2b37c_1_67"/>
          <p:cNvSpPr txBox="1"/>
          <p:nvPr>
            <p:ph type="body" idx="1"/>
          </p:nvPr>
        </p:nvSpPr>
        <p:spPr>
          <a:xfrm>
            <a:off x="289550" y="2721325"/>
            <a:ext cx="17401500" cy="82350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Arial" panose="020B0604020202020204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Authentication: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Users log in, and Role-Based Access Control (RBAC) safely routes them to their designated dashboard (Student, Teacher, or Admin).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Arial" panose="020B0604020202020204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Record Creation: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Teachers mark daily attendance via the Web UI, which is then securely processed and stored in the Data Layer.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Arial" panose="020B0604020202020204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Consumption: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Students view these newly updated records in real-time on their summary dashboards.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Arial" panose="020B0604020202020204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Edits &amp; Approvals: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If a teacher submits an attendance correction, the request is paused in the system until the Administrator approves it.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82600" algn="l" rtl="0">
              <a:spcBef>
                <a:spcPts val="0"/>
              </a:spcBef>
              <a:spcAft>
                <a:spcPts val="0"/>
              </a:spcAft>
              <a:buSzPts val="4000"/>
              <a:buFont typeface="Arial" panose="020B0604020202020204"/>
              <a:buChar char="●"/>
            </a:pPr>
            <a:r>
              <a:rPr lang="en-US" sz="4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Alert Generation:</a:t>
            </a:r>
            <a:r>
              <a:rPr lang="en-US" sz="40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The system checks attendance against institutional rules and triggers warning notifications through the integration layer if criteria are not met.</a:t>
            </a:r>
            <a:endParaRPr sz="40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d0ec2b37c_1_74"/>
          <p:cNvSpPr txBox="1"/>
          <p:nvPr>
            <p:ph type="title"/>
          </p:nvPr>
        </p:nvSpPr>
        <p:spPr>
          <a:xfrm>
            <a:off x="1588950" y="1177885"/>
            <a:ext cx="9958200" cy="9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6000"/>
              <a:t>Workflow of System</a:t>
            </a:r>
            <a:endParaRPr lang="en-US" sz="6000"/>
          </a:p>
        </p:txBody>
      </p:sp>
      <p:sp>
        <p:nvSpPr>
          <p:cNvPr id="151" name="Google Shape;151;g3dd0ec2b37c_1_74"/>
          <p:cNvSpPr txBox="1"/>
          <p:nvPr>
            <p:ph type="body" idx="1"/>
          </p:nvPr>
        </p:nvSpPr>
        <p:spPr>
          <a:xfrm>
            <a:off x="-7406649" y="4148700"/>
            <a:ext cx="5247600" cy="846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52" name="Google Shape;152;g3dd0ec2b37c_1_7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52400" y="2253675"/>
            <a:ext cx="11214099" cy="70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dd0ec2b37c_1_7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1366500" y="2609850"/>
            <a:ext cx="6705600" cy="665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416eb1071_0_0"/>
          <p:cNvSpPr txBox="1"/>
          <p:nvPr>
            <p:ph type="title"/>
          </p:nvPr>
        </p:nvSpPr>
        <p:spPr>
          <a:xfrm>
            <a:off x="1588950" y="1177875"/>
            <a:ext cx="15774900" cy="9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/>
              <a:t>Individual roles of Members</a:t>
            </a:r>
            <a:endParaRPr sz="6400"/>
          </a:p>
        </p:txBody>
      </p:sp>
      <p:sp>
        <p:nvSpPr>
          <p:cNvPr id="159" name="Google Shape;159;g3d416eb1071_0_0"/>
          <p:cNvSpPr txBox="1"/>
          <p:nvPr>
            <p:ph type="body" idx="1"/>
          </p:nvPr>
        </p:nvSpPr>
        <p:spPr>
          <a:xfrm>
            <a:off x="292100" y="2776855"/>
            <a:ext cx="17541240" cy="693547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r>
              <a:rPr lang="en-US" sz="4800"/>
              <a:t>Rishab Rai - </a:t>
            </a:r>
            <a:r>
              <a:rPr lang="en-US" altLang="en-US" sz="3200"/>
              <a:t>Testing and Debugging,Screenshot Collection and Validation</a:t>
            </a:r>
            <a:endParaRPr lang="en-US" altLang="en-US" sz="3200"/>
          </a:p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endParaRPr lang="en-US" sz="4800"/>
          </a:p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r>
              <a:rPr lang="en-US" sz="4800"/>
              <a:t>Rishin Mallik -</a:t>
            </a:r>
            <a:r>
              <a:rPr lang="en-US" altLang="en-US" sz="2800"/>
              <a:t>Frontend Development (HTML, CSS, JavaScript),UI Design and System Integration</a:t>
            </a:r>
            <a:endParaRPr lang="en-US" altLang="en-US" sz="2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 </a:t>
            </a:r>
            <a:endParaRPr sz="4800"/>
          </a:p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r>
              <a:rPr lang="en-US" sz="4800"/>
              <a:t>Shashank Pitaliya -</a:t>
            </a:r>
            <a:r>
              <a:rPr lang="en-US" altLang="en-US" sz="2800"/>
              <a:t>Documentation and Report Preparation,</a:t>
            </a:r>
            <a:r>
              <a:rPr lang="en-US" altLang="en-US" sz="2400"/>
              <a:t>PPT Design and Content Organization</a:t>
            </a:r>
            <a:endParaRPr lang="en-US" altLang="en-US" sz="24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 </a:t>
            </a:r>
            <a:endParaRPr sz="4800"/>
          </a:p>
          <a:p>
            <a:pPr marL="457200" lvl="0" indent="-533400" algn="l" rtl="0">
              <a:spcBef>
                <a:spcPts val="0"/>
              </a:spcBef>
              <a:spcAft>
                <a:spcPts val="0"/>
              </a:spcAft>
              <a:buSzPts val="4800"/>
              <a:buChar char="●"/>
            </a:pPr>
            <a:r>
              <a:rPr lang="en-US" sz="4800"/>
              <a:t>Sunandan Bhattacharjee -</a:t>
            </a:r>
            <a:r>
              <a:rPr lang="en-US" altLang="en-US" sz="2800"/>
              <a:t>System Design and Architecture Planning,Workflow Design     (SRS &amp; ACDD contribution)</a:t>
            </a:r>
            <a:endParaRPr lang="en-US" altLang="en-US" sz="28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 </a:t>
            </a:r>
            <a:endParaRPr sz="4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d0ec2b37c_1_81"/>
          <p:cNvSpPr txBox="1"/>
          <p:nvPr>
            <p:ph type="title"/>
          </p:nvPr>
        </p:nvSpPr>
        <p:spPr>
          <a:xfrm>
            <a:off x="1588950" y="1177885"/>
            <a:ext cx="9958200" cy="8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Technologies Used</a:t>
            </a:r>
            <a:endParaRPr sz="5800"/>
          </a:p>
        </p:txBody>
      </p:sp>
      <p:sp>
        <p:nvSpPr>
          <p:cNvPr id="165" name="Google Shape;165;g3dd0ec2b37c_1_81"/>
          <p:cNvSpPr txBox="1"/>
          <p:nvPr>
            <p:ph type="body" idx="1"/>
          </p:nvPr>
        </p:nvSpPr>
        <p:spPr>
          <a:xfrm>
            <a:off x="558025" y="2949925"/>
            <a:ext cx="17404800" cy="76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SzPts val="4200"/>
              <a:buFont typeface="Arial" panose="020B0604020202020204"/>
              <a:buChar char="●"/>
            </a:pPr>
            <a:r>
              <a:rPr lang="en-US" sz="42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Deployment:</a:t>
            </a:r>
            <a:r>
              <a:rPr lang="en-US" sz="4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Functions as a standalone web-based platform accessed through standard client web browsers.</a:t>
            </a:r>
            <a:endParaRPr sz="42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SzPts val="4200"/>
              <a:buFont typeface="Arial" panose="020B0604020202020204"/>
              <a:buChar char="●"/>
            </a:pPr>
            <a:r>
              <a:rPr lang="en-US" sz="42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Network Security:</a:t>
            </a:r>
            <a:r>
              <a:rPr lang="en-US" sz="4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Mandates HTTPS protocol for all system communications to ensure data privacy.</a:t>
            </a:r>
            <a:endParaRPr sz="42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SzPts val="4200"/>
              <a:buFont typeface="Arial" panose="020B0604020202020204"/>
              <a:buChar char="●"/>
            </a:pPr>
            <a:r>
              <a:rPr lang="en-US" sz="42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Application Logic:</a:t>
            </a:r>
            <a:r>
              <a:rPr lang="en-US" sz="4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Utilizes a robust Web/App Server to host controllers, APIs, and business services.</a:t>
            </a:r>
            <a:endParaRPr sz="42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SzPts val="4200"/>
              <a:buFont typeface="Arial" panose="020B0604020202020204"/>
              <a:buChar char="●"/>
            </a:pPr>
            <a:r>
              <a:rPr lang="en-US" sz="42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Database Management:</a:t>
            </a:r>
            <a:r>
              <a:rPr lang="en-US" sz="4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Relies on a dedicated Database Server (DBMS) for secure, scalable record storage.</a:t>
            </a:r>
            <a:endParaRPr sz="42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lvl="0" indent="-495300" algn="l" rtl="0">
              <a:spcBef>
                <a:spcPts val="0"/>
              </a:spcBef>
              <a:spcAft>
                <a:spcPts val="0"/>
              </a:spcAft>
              <a:buSzPts val="4200"/>
              <a:buFont typeface="Arial" panose="020B0604020202020204"/>
              <a:buChar char="●"/>
            </a:pPr>
            <a:r>
              <a:rPr lang="en-US" sz="42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Access Control:</a:t>
            </a:r>
            <a:r>
              <a:rPr lang="en-US" sz="42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Employs RBAC middleware, secure session/token management, and encrypted passwords.</a:t>
            </a:r>
            <a:endParaRPr sz="42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d0ec2b37c_1_87"/>
          <p:cNvSpPr txBox="1"/>
          <p:nvPr>
            <p:ph type="title"/>
          </p:nvPr>
        </p:nvSpPr>
        <p:spPr>
          <a:xfrm>
            <a:off x="1588950" y="1177875"/>
            <a:ext cx="15402900" cy="985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400"/>
              <a:t>Conclusion</a:t>
            </a:r>
            <a:endParaRPr lang="en-US" sz="6400"/>
          </a:p>
        </p:txBody>
      </p:sp>
      <p:sp>
        <p:nvSpPr>
          <p:cNvPr id="171" name="Google Shape;171;g3dd0ec2b37c_1_87"/>
          <p:cNvSpPr txBox="1"/>
          <p:nvPr>
            <p:ph type="body" idx="1"/>
          </p:nvPr>
        </p:nvSpPr>
        <p:spPr>
          <a:xfrm>
            <a:off x="437925" y="2949925"/>
            <a:ext cx="17079300" cy="75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514350" algn="l" rtl="0">
              <a:spcBef>
                <a:spcPts val="0"/>
              </a:spcBef>
              <a:spcAft>
                <a:spcPts val="0"/>
              </a:spcAft>
              <a:buSzPts val="4500"/>
              <a:buChar char="●"/>
            </a:pPr>
            <a:r>
              <a:rPr lang="en-US" sz="4500"/>
              <a:t>SAMS modernizes educational administration by completely replacing error-prone manual registers with a fast, transparent digital platform.</a:t>
            </a:r>
            <a:endParaRPr sz="4500"/>
          </a:p>
          <a:p>
            <a:pPr marL="457200" lvl="0" indent="-514350" algn="l" rtl="0">
              <a:spcBef>
                <a:spcPts val="0"/>
              </a:spcBef>
              <a:spcAft>
                <a:spcPts val="0"/>
              </a:spcAft>
              <a:buSzPts val="4500"/>
              <a:buChar char="●"/>
            </a:pPr>
            <a:r>
              <a:rPr lang="en-US" sz="4500"/>
              <a:t>The system empowers students with real-time visibility into their academic standing and drastically reduces administrative burdens on teachers.</a:t>
            </a:r>
            <a:endParaRPr sz="4500"/>
          </a:p>
          <a:p>
            <a:pPr marL="457200" lvl="0" indent="-514350" algn="l" rtl="0">
              <a:spcBef>
                <a:spcPts val="0"/>
              </a:spcBef>
              <a:spcAft>
                <a:spcPts val="0"/>
              </a:spcAft>
              <a:buSzPts val="4500"/>
              <a:buChar char="●"/>
            </a:pPr>
            <a:r>
              <a:rPr lang="en-US" sz="4500"/>
              <a:t>Its strict, secure layered architecture ensures complete compliance with institutional attendance policies.</a:t>
            </a:r>
            <a:endParaRPr sz="4500"/>
          </a:p>
          <a:p>
            <a:pPr marL="457200" lvl="0" indent="-514350" algn="l" rtl="0">
              <a:spcBef>
                <a:spcPts val="0"/>
              </a:spcBef>
              <a:spcAft>
                <a:spcPts val="0"/>
              </a:spcAft>
              <a:buSzPts val="4500"/>
              <a:buChar char="●"/>
            </a:pPr>
            <a:r>
              <a:rPr lang="en-US" sz="4500"/>
              <a:t>The modular design paves the way for future scalability and full integration with broader university databases.</a:t>
            </a:r>
            <a:endParaRPr sz="4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>
            <p:ph type="title"/>
          </p:nvPr>
        </p:nvSpPr>
        <p:spPr>
          <a:xfrm>
            <a:off x="1592250" y="2706747"/>
            <a:ext cx="4549140" cy="112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FFFFFF"/>
                </a:solidFill>
              </a:rPr>
              <a:t>Thank	You</a:t>
            </a:r>
            <a:endParaRPr sz="7200"/>
          </a:p>
        </p:txBody>
      </p:sp>
      <p:sp>
        <p:nvSpPr>
          <p:cNvPr id="177" name="Google Shape;177;p9"/>
          <p:cNvSpPr txBox="1"/>
          <p:nvPr>
            <p:ph type="ftr" idx="11"/>
          </p:nvPr>
        </p:nvSpPr>
        <p:spPr>
          <a:xfrm>
            <a:off x="7818263" y="9999066"/>
            <a:ext cx="2428875" cy="3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Dr. Deepak Kumar Rout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5722</Words>
  <Application>WPS Presentation</Application>
  <PresentationFormat/>
  <Paragraphs>114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SimSun</vt:lpstr>
      <vt:lpstr>Wingdings</vt:lpstr>
      <vt:lpstr>Arial</vt:lpstr>
      <vt:lpstr>Trebuchet MS</vt:lpstr>
      <vt:lpstr>Tahoma</vt:lpstr>
      <vt:lpstr>Calibri</vt:lpstr>
      <vt:lpstr>Times</vt:lpstr>
      <vt:lpstr>Times New Roman</vt:lpstr>
      <vt:lpstr>Microsoft YaHei</vt:lpstr>
      <vt:lpstr>Arial Unicode MS</vt:lpstr>
      <vt:lpstr>Office Theme</vt:lpstr>
      <vt:lpstr>PowerPoint 演示文稿</vt:lpstr>
      <vt:lpstr>Problem</vt:lpstr>
      <vt:lpstr>Solution</vt:lpstr>
      <vt:lpstr>Objectives</vt:lpstr>
      <vt:lpstr>System Architecture Design</vt:lpstr>
      <vt:lpstr>System Architecture Design</vt:lpstr>
      <vt:lpstr>Student End Display Module</vt:lpstr>
      <vt:lpstr>Student End Display Module</vt:lpstr>
      <vt:lpstr>Teacher End Entry Module</vt:lpstr>
      <vt:lpstr>Teacher End Entry Module</vt:lpstr>
      <vt:lpstr>Admin End Management Module</vt:lpstr>
      <vt:lpstr>Admin End Management Module</vt:lpstr>
      <vt:lpstr>Workflow of System</vt:lpstr>
      <vt:lpstr>Workflow of System</vt:lpstr>
      <vt:lpstr>Individual roles of Members</vt:lpstr>
      <vt:lpstr>Technologies Used</vt:lpstr>
      <vt:lpstr>Conclusion</vt:lpstr>
      <vt:lpstr>Thank	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RISHIN MALLICK</cp:lastModifiedBy>
  <cp:revision>1</cp:revision>
  <dcterms:created xsi:type="dcterms:W3CDTF">2026-04-02T11:38:51Z</dcterms:created>
  <dcterms:modified xsi:type="dcterms:W3CDTF">2026-04-02T11:38:51Z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F0AC31580DE141669FBBE72929EBE8D3_13</vt:lpwstr>
  </property>
  <property fmtid="{D5CDD505-2E9C-101B-9397-08002B2CF9AE}" pid="3" name="KSOProductBuildVer">
    <vt:lpwstr>1033-12.2.0.23196</vt:lpwstr>
  </property>
</Properties>
</file>